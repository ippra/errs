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8"/>
    <p:restoredTop sz="94675"/>
  </p:normalViewPr>
  <p:slideViewPr>
    <p:cSldViewPr snapToGrid="0">
      <p:cViewPr>
        <p:scale>
          <a:sx n="250" d="100"/>
          <a:sy n="250" d="100"/>
        </p:scale>
        <p:origin x="1912" y="-5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1D42DA-1722-9B46-9B3A-D41A6760EFD1}"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413531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1D42DA-1722-9B46-9B3A-D41A6760EFD1}"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1797328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1D42DA-1722-9B46-9B3A-D41A6760EFD1}"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84190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1D42DA-1722-9B46-9B3A-D41A6760EFD1}"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3962106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1D42DA-1722-9B46-9B3A-D41A6760EFD1}" type="datetimeFigureOut">
              <a:rPr lang="en-US" smtClean="0"/>
              <a:t>12/12/25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621571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1D42DA-1722-9B46-9B3A-D41A6760EFD1}" type="datetimeFigureOut">
              <a:rPr lang="en-US" smtClean="0"/>
              <a:t>12/12/25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2096113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1D42DA-1722-9B46-9B3A-D41A6760EFD1}" type="datetimeFigureOut">
              <a:rPr lang="en-US" smtClean="0"/>
              <a:t>12/12/25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3238354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D1D42DA-1722-9B46-9B3A-D41A6760EFD1}"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2578968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D1D42DA-1722-9B46-9B3A-D41A6760EFD1}"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1383883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1D42DA-1722-9B46-9B3A-D41A6760EFD1}"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326061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1D42DA-1722-9B46-9B3A-D41A6760EFD1}"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522A03-33D4-2849-B511-B7EF3CF1666A}" type="slidenum">
              <a:rPr lang="en-US" smtClean="0"/>
              <a:t>‹#›</a:t>
            </a:fld>
            <a:endParaRPr lang="en-US"/>
          </a:p>
        </p:txBody>
      </p:sp>
    </p:spTree>
    <p:extLst>
      <p:ext uri="{BB962C8B-B14F-4D97-AF65-F5344CB8AC3E}">
        <p14:creationId xmlns:p14="http://schemas.microsoft.com/office/powerpoint/2010/main" val="1731375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9D1D42DA-1722-9B46-9B3A-D41A6760EFD1}" type="datetimeFigureOut">
              <a:rPr lang="en-US" smtClean="0"/>
              <a:t>12/12/25</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3B522A03-33D4-2849-B511-B7EF3CF1666A}" type="slidenum">
              <a:rPr lang="en-US" smtClean="0"/>
              <a:t>‹#›</a:t>
            </a:fld>
            <a:endParaRPr lang="en-US"/>
          </a:p>
        </p:txBody>
      </p:sp>
    </p:spTree>
    <p:extLst>
      <p:ext uri="{BB962C8B-B14F-4D97-AF65-F5344CB8AC3E}">
        <p14:creationId xmlns:p14="http://schemas.microsoft.com/office/powerpoint/2010/main" val="4916429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B18B72-C0F7-E430-4C63-7F8216544858}"/>
              </a:ext>
            </a:extLst>
          </p:cNvPr>
          <p:cNvSpPr txBox="1"/>
          <p:nvPr/>
        </p:nvSpPr>
        <p:spPr>
          <a:xfrm>
            <a:off x="0" y="0"/>
            <a:ext cx="6858000" cy="369332"/>
          </a:xfrm>
          <a:prstGeom prst="rect">
            <a:avLst/>
          </a:prstGeom>
          <a:noFill/>
        </p:spPr>
        <p:txBody>
          <a:bodyPr wrap="square" rtlCol="0">
            <a:spAutoFit/>
          </a:bodyPr>
          <a:lstStyle/>
          <a:p>
            <a:r>
              <a:rPr lang="en-US" b="1" dirty="0"/>
              <a:t>Enhanced Reliability and Resilience Score (ERRS) Worksheet</a:t>
            </a:r>
          </a:p>
        </p:txBody>
      </p:sp>
      <p:sp>
        <p:nvSpPr>
          <p:cNvPr id="5" name="TextBox 4">
            <a:extLst>
              <a:ext uri="{FF2B5EF4-FFF2-40B4-BE49-F238E27FC236}">
                <a16:creationId xmlns:a16="http://schemas.microsoft.com/office/drawing/2014/main" id="{D2518372-09C9-56D5-78D9-8789A67A4FD2}"/>
              </a:ext>
            </a:extLst>
          </p:cNvPr>
          <p:cNvSpPr txBox="1"/>
          <p:nvPr/>
        </p:nvSpPr>
        <p:spPr>
          <a:xfrm>
            <a:off x="0" y="436694"/>
            <a:ext cx="6746487" cy="507831"/>
          </a:xfrm>
          <a:prstGeom prst="rect">
            <a:avLst/>
          </a:prstGeom>
          <a:noFill/>
        </p:spPr>
        <p:txBody>
          <a:bodyPr wrap="square" rtlCol="0">
            <a:spAutoFit/>
          </a:bodyPr>
          <a:lstStyle/>
          <a:p>
            <a:r>
              <a:rPr lang="en-US" sz="900" b="1" dirty="0"/>
              <a:t>Purpose | </a:t>
            </a:r>
            <a:r>
              <a:rPr lang="en-US" sz="900" dirty="0"/>
              <a:t>The Enhanced Reliability and Resilience Score (ERRS) provides a clear, consistent way to compare and prioritize mitigation options. It combines expert judgment with a quantitative framework to weigh options on a common scale and identify those that most effectively improve energy system reliability and resilience relative to cost.</a:t>
            </a:r>
          </a:p>
        </p:txBody>
      </p:sp>
      <p:sp>
        <p:nvSpPr>
          <p:cNvPr id="7" name="Rectangle 6">
            <a:extLst>
              <a:ext uri="{FF2B5EF4-FFF2-40B4-BE49-F238E27FC236}">
                <a16:creationId xmlns:a16="http://schemas.microsoft.com/office/drawing/2014/main" id="{28DFF7E7-C068-0B07-036F-60202267BE8C}"/>
              </a:ext>
            </a:extLst>
          </p:cNvPr>
          <p:cNvSpPr/>
          <p:nvPr/>
        </p:nvSpPr>
        <p:spPr>
          <a:xfrm>
            <a:off x="-1" y="2155732"/>
            <a:ext cx="3548866" cy="61023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Reliability Score </a:t>
            </a:r>
          </a:p>
          <a:p>
            <a:r>
              <a:rPr lang="en-US" sz="700" dirty="0"/>
              <a:t>Assess how much the mitigation option will </a:t>
            </a:r>
            <a:r>
              <a:rPr lang="en-US" sz="700" i="1" dirty="0"/>
              <a:t>prevent</a:t>
            </a:r>
            <a:r>
              <a:rPr lang="en-US" sz="700" dirty="0"/>
              <a:t> power interruptions and ensure consistent, dependable energy delivery under normal operating conditions. A score of 1 means it would make little noticeable difference, while a score of 5 means it would greatly reduce routine outages or improve day-to-day system performance.</a:t>
            </a:r>
          </a:p>
        </p:txBody>
      </p:sp>
      <p:sp>
        <p:nvSpPr>
          <p:cNvPr id="8" name="Rectangle 7">
            <a:extLst>
              <a:ext uri="{FF2B5EF4-FFF2-40B4-BE49-F238E27FC236}">
                <a16:creationId xmlns:a16="http://schemas.microsoft.com/office/drawing/2014/main" id="{3B4FD3EB-2BE8-D7C2-92A6-9EEBE0C83406}"/>
              </a:ext>
            </a:extLst>
          </p:cNvPr>
          <p:cNvSpPr/>
          <p:nvPr/>
        </p:nvSpPr>
        <p:spPr>
          <a:xfrm>
            <a:off x="1" y="2891713"/>
            <a:ext cx="3548866" cy="61023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Resilience Score </a:t>
            </a:r>
          </a:p>
          <a:p>
            <a:r>
              <a:rPr lang="en-US" sz="700" dirty="0"/>
              <a:t>Assess how much the mitigation option will help customers or facilities </a:t>
            </a:r>
            <a:r>
              <a:rPr lang="en-US" sz="700" i="1" dirty="0"/>
              <a:t>withstand and recover</a:t>
            </a:r>
            <a:r>
              <a:rPr lang="en-US" sz="700" dirty="0"/>
              <a:t> from major disruptions such as extreme weather, equipment failure, or supply shortages. A score of 1 means it provides little added protection or recovery capability, while a score of 5 means it would significantly strengthen the ability to maintain or quickly restore power after a disruption.</a:t>
            </a:r>
          </a:p>
        </p:txBody>
      </p:sp>
      <p:sp>
        <p:nvSpPr>
          <p:cNvPr id="13" name="Rectangle 12">
            <a:extLst>
              <a:ext uri="{FF2B5EF4-FFF2-40B4-BE49-F238E27FC236}">
                <a16:creationId xmlns:a16="http://schemas.microsoft.com/office/drawing/2014/main" id="{8E019F96-2332-F546-5BB6-663CD9E3B2A2}"/>
              </a:ext>
            </a:extLst>
          </p:cNvPr>
          <p:cNvSpPr/>
          <p:nvPr/>
        </p:nvSpPr>
        <p:spPr>
          <a:xfrm>
            <a:off x="1" y="3604130"/>
            <a:ext cx="3548866" cy="61023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Feasibility Score </a:t>
            </a:r>
          </a:p>
          <a:p>
            <a:r>
              <a:rPr lang="en-US" sz="700" dirty="0"/>
              <a:t>Assess how practical the mitigation option is to carry out, considering factors such as technical complexity, regulatory requirements, available expertise, and local conditions. A score of 1 means it would be difficult to implement, while a score of 5 means it would be straightforward and realistic given current capabilities.</a:t>
            </a:r>
          </a:p>
        </p:txBody>
      </p:sp>
      <p:sp>
        <p:nvSpPr>
          <p:cNvPr id="14" name="Rectangle 13">
            <a:extLst>
              <a:ext uri="{FF2B5EF4-FFF2-40B4-BE49-F238E27FC236}">
                <a16:creationId xmlns:a16="http://schemas.microsoft.com/office/drawing/2014/main" id="{CC490A7E-1A0D-F5D8-34ED-8DCD92689608}"/>
              </a:ext>
            </a:extLst>
          </p:cNvPr>
          <p:cNvSpPr/>
          <p:nvPr/>
        </p:nvSpPr>
        <p:spPr>
          <a:xfrm>
            <a:off x="1" y="4339153"/>
            <a:ext cx="3548866" cy="61023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Acceptability Score </a:t>
            </a:r>
          </a:p>
          <a:p>
            <a:r>
              <a:rPr lang="en-US" sz="700" dirty="0"/>
              <a:t>Assess how likely stakeholders, communities, and decision-makers are to support the mitigation option. Consider factors such as public perception, political support, and community trust. A score of 1 means the action would face significant opposition or concern, while a score of 5 means it would be widely supported and accepted by affected groups.</a:t>
            </a:r>
          </a:p>
        </p:txBody>
      </p:sp>
      <p:sp>
        <p:nvSpPr>
          <p:cNvPr id="15" name="Rectangle 14">
            <a:extLst>
              <a:ext uri="{FF2B5EF4-FFF2-40B4-BE49-F238E27FC236}">
                <a16:creationId xmlns:a16="http://schemas.microsoft.com/office/drawing/2014/main" id="{CE1A97C0-85C4-4EA0-CE57-932EAA883568}"/>
              </a:ext>
            </a:extLst>
          </p:cNvPr>
          <p:cNvSpPr/>
          <p:nvPr/>
        </p:nvSpPr>
        <p:spPr>
          <a:xfrm>
            <a:off x="-1" y="5079138"/>
            <a:ext cx="3548866" cy="61023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Vulnerable Population Impact Score</a:t>
            </a:r>
          </a:p>
          <a:p>
            <a:r>
              <a:rPr lang="en-US" sz="700" dirty="0"/>
              <a:t>Assess how effectively the mitigation action reduces negative impacts on people and communities most likely to experience serious consequences from energy disruptions. For example, those with limited access to backup power, critical medical needs, or fewer financial resources. A score of 1 means it provides little or no added protection, while a score of 5 means it would greatly reduce hardship or improve recovery for these groups.</a:t>
            </a:r>
          </a:p>
        </p:txBody>
      </p:sp>
      <p:sp>
        <p:nvSpPr>
          <p:cNvPr id="16" name="Rectangle 15">
            <a:extLst>
              <a:ext uri="{FF2B5EF4-FFF2-40B4-BE49-F238E27FC236}">
                <a16:creationId xmlns:a16="http://schemas.microsoft.com/office/drawing/2014/main" id="{75DE54CD-FA9D-D9B9-07CE-EEF4D2B0177A}"/>
              </a:ext>
            </a:extLst>
          </p:cNvPr>
          <p:cNvSpPr/>
          <p:nvPr/>
        </p:nvSpPr>
        <p:spPr>
          <a:xfrm>
            <a:off x="-3176" y="5807316"/>
            <a:ext cx="3548866" cy="643421"/>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r>
              <a:rPr lang="en-US" sz="700" b="1" dirty="0"/>
              <a:t>Cost Score</a:t>
            </a:r>
          </a:p>
          <a:p>
            <a:r>
              <a:rPr lang="en-US" sz="700" dirty="0"/>
              <a:t>Assess the economic cost of the mitigation action using a five-point scale, where a score of 1 represents a very low cost and a score of 5 represents a very high cost. Cost assessments should account for both upfront (capital) costs and ongoing (operation and maintenance) costs over time, and may be informed by historical cost data, cost projections, literature reviews, or expert and stakeholder input.</a:t>
            </a:r>
          </a:p>
        </p:txBody>
      </p:sp>
      <p:sp>
        <p:nvSpPr>
          <p:cNvPr id="17" name="Rectangle 16">
            <a:extLst>
              <a:ext uri="{FF2B5EF4-FFF2-40B4-BE49-F238E27FC236}">
                <a16:creationId xmlns:a16="http://schemas.microsoft.com/office/drawing/2014/main" id="{F6D41BDF-BA9B-C006-CD1E-DF3A8972AB8E}"/>
              </a:ext>
            </a:extLst>
          </p:cNvPr>
          <p:cNvSpPr/>
          <p:nvPr/>
        </p:nvSpPr>
        <p:spPr>
          <a:xfrm>
            <a:off x="3512634" y="1211894"/>
            <a:ext cx="1553740" cy="5734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19" name="Rectangle 18">
            <a:extLst>
              <a:ext uri="{FF2B5EF4-FFF2-40B4-BE49-F238E27FC236}">
                <a16:creationId xmlns:a16="http://schemas.microsoft.com/office/drawing/2014/main" id="{2AF5E4FB-7266-D20E-9EB8-197D465EB172}"/>
              </a:ext>
            </a:extLst>
          </p:cNvPr>
          <p:cNvSpPr/>
          <p:nvPr/>
        </p:nvSpPr>
        <p:spPr>
          <a:xfrm>
            <a:off x="5192748" y="1211894"/>
            <a:ext cx="1553740" cy="5734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20" name="Rectangle 19">
            <a:extLst>
              <a:ext uri="{FF2B5EF4-FFF2-40B4-BE49-F238E27FC236}">
                <a16:creationId xmlns:a16="http://schemas.microsoft.com/office/drawing/2014/main" id="{BE94A4AB-90F2-B629-15F0-61F1A4E76838}"/>
              </a:ext>
            </a:extLst>
          </p:cNvPr>
          <p:cNvSpPr/>
          <p:nvPr/>
        </p:nvSpPr>
        <p:spPr>
          <a:xfrm>
            <a:off x="3512634" y="871553"/>
            <a:ext cx="1553740" cy="44408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b="1" dirty="0"/>
              <a:t>Mitigation Option A</a:t>
            </a:r>
            <a:endParaRPr lang="en-US" sz="1000" dirty="0"/>
          </a:p>
        </p:txBody>
      </p:sp>
      <p:sp>
        <p:nvSpPr>
          <p:cNvPr id="21" name="Rectangle 20">
            <a:extLst>
              <a:ext uri="{FF2B5EF4-FFF2-40B4-BE49-F238E27FC236}">
                <a16:creationId xmlns:a16="http://schemas.microsoft.com/office/drawing/2014/main" id="{4C50A145-12E1-865F-67FE-DFC65D02DEA3}"/>
              </a:ext>
            </a:extLst>
          </p:cNvPr>
          <p:cNvSpPr/>
          <p:nvPr/>
        </p:nvSpPr>
        <p:spPr>
          <a:xfrm>
            <a:off x="5192748" y="871553"/>
            <a:ext cx="1553740" cy="44408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000" b="1" dirty="0"/>
              <a:t>Mitigation Option B</a:t>
            </a:r>
            <a:endParaRPr lang="en-US" sz="1000" dirty="0"/>
          </a:p>
        </p:txBody>
      </p:sp>
      <p:sp>
        <p:nvSpPr>
          <p:cNvPr id="22" name="Rectangle 21">
            <a:extLst>
              <a:ext uri="{FF2B5EF4-FFF2-40B4-BE49-F238E27FC236}">
                <a16:creationId xmlns:a16="http://schemas.microsoft.com/office/drawing/2014/main" id="{622DE99A-CE64-C53A-7B81-6500D76EC8CD}"/>
              </a:ext>
            </a:extLst>
          </p:cNvPr>
          <p:cNvSpPr/>
          <p:nvPr/>
        </p:nvSpPr>
        <p:spPr>
          <a:xfrm>
            <a:off x="3748669" y="2155732"/>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0" name="Rectangle 29">
            <a:extLst>
              <a:ext uri="{FF2B5EF4-FFF2-40B4-BE49-F238E27FC236}">
                <a16:creationId xmlns:a16="http://schemas.microsoft.com/office/drawing/2014/main" id="{0AC09060-EF4E-F7AC-14AE-539E8AAE56B0}"/>
              </a:ext>
            </a:extLst>
          </p:cNvPr>
          <p:cNvSpPr/>
          <p:nvPr/>
        </p:nvSpPr>
        <p:spPr>
          <a:xfrm>
            <a:off x="3748669" y="2891713"/>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1" name="Rectangle 30">
            <a:extLst>
              <a:ext uri="{FF2B5EF4-FFF2-40B4-BE49-F238E27FC236}">
                <a16:creationId xmlns:a16="http://schemas.microsoft.com/office/drawing/2014/main" id="{75189CE1-1EFC-8903-C7D8-3966FC72DFCA}"/>
              </a:ext>
            </a:extLst>
          </p:cNvPr>
          <p:cNvSpPr/>
          <p:nvPr/>
        </p:nvSpPr>
        <p:spPr>
          <a:xfrm>
            <a:off x="3748669" y="3604130"/>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2" name="Rectangle 31">
            <a:extLst>
              <a:ext uri="{FF2B5EF4-FFF2-40B4-BE49-F238E27FC236}">
                <a16:creationId xmlns:a16="http://schemas.microsoft.com/office/drawing/2014/main" id="{FFB5557A-0167-8ED7-D0B6-C3EE3688588E}"/>
              </a:ext>
            </a:extLst>
          </p:cNvPr>
          <p:cNvSpPr/>
          <p:nvPr/>
        </p:nvSpPr>
        <p:spPr>
          <a:xfrm>
            <a:off x="3748668" y="4339153"/>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3" name="Rectangle 32">
            <a:extLst>
              <a:ext uri="{FF2B5EF4-FFF2-40B4-BE49-F238E27FC236}">
                <a16:creationId xmlns:a16="http://schemas.microsoft.com/office/drawing/2014/main" id="{6D9A4D0E-BB76-EAD8-DA76-66C5A38B7E00}"/>
              </a:ext>
            </a:extLst>
          </p:cNvPr>
          <p:cNvSpPr/>
          <p:nvPr/>
        </p:nvSpPr>
        <p:spPr>
          <a:xfrm>
            <a:off x="3748667" y="5079138"/>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4" name="Rectangle 33">
            <a:extLst>
              <a:ext uri="{FF2B5EF4-FFF2-40B4-BE49-F238E27FC236}">
                <a16:creationId xmlns:a16="http://schemas.microsoft.com/office/drawing/2014/main" id="{44991DE1-E81E-29DE-8C66-886EC13C8304}"/>
              </a:ext>
            </a:extLst>
          </p:cNvPr>
          <p:cNvSpPr/>
          <p:nvPr/>
        </p:nvSpPr>
        <p:spPr>
          <a:xfrm>
            <a:off x="3748666" y="5820926"/>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5" name="Rectangle 34">
            <a:extLst>
              <a:ext uri="{FF2B5EF4-FFF2-40B4-BE49-F238E27FC236}">
                <a16:creationId xmlns:a16="http://schemas.microsoft.com/office/drawing/2014/main" id="{8B8A2A9E-01B5-FA44-452E-B4731F14FF6C}"/>
              </a:ext>
            </a:extLst>
          </p:cNvPr>
          <p:cNvSpPr/>
          <p:nvPr/>
        </p:nvSpPr>
        <p:spPr>
          <a:xfrm>
            <a:off x="5428783" y="2155732"/>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6" name="Rectangle 35">
            <a:extLst>
              <a:ext uri="{FF2B5EF4-FFF2-40B4-BE49-F238E27FC236}">
                <a16:creationId xmlns:a16="http://schemas.microsoft.com/office/drawing/2014/main" id="{01CEC994-3699-2C92-2629-BF3C209F7BEB}"/>
              </a:ext>
            </a:extLst>
          </p:cNvPr>
          <p:cNvSpPr/>
          <p:nvPr/>
        </p:nvSpPr>
        <p:spPr>
          <a:xfrm>
            <a:off x="5410195" y="2891713"/>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7" name="Rectangle 36">
            <a:extLst>
              <a:ext uri="{FF2B5EF4-FFF2-40B4-BE49-F238E27FC236}">
                <a16:creationId xmlns:a16="http://schemas.microsoft.com/office/drawing/2014/main" id="{646005AE-B40B-3E23-0D26-A4D50796BB29}"/>
              </a:ext>
            </a:extLst>
          </p:cNvPr>
          <p:cNvSpPr/>
          <p:nvPr/>
        </p:nvSpPr>
        <p:spPr>
          <a:xfrm>
            <a:off x="5410194" y="3604130"/>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8" name="Rectangle 37">
            <a:extLst>
              <a:ext uri="{FF2B5EF4-FFF2-40B4-BE49-F238E27FC236}">
                <a16:creationId xmlns:a16="http://schemas.microsoft.com/office/drawing/2014/main" id="{75F678BF-DB30-829F-114F-FC5AB59D1BEB}"/>
              </a:ext>
            </a:extLst>
          </p:cNvPr>
          <p:cNvSpPr/>
          <p:nvPr/>
        </p:nvSpPr>
        <p:spPr>
          <a:xfrm>
            <a:off x="5410193" y="4339153"/>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39" name="Rectangle 38">
            <a:extLst>
              <a:ext uri="{FF2B5EF4-FFF2-40B4-BE49-F238E27FC236}">
                <a16:creationId xmlns:a16="http://schemas.microsoft.com/office/drawing/2014/main" id="{A77A1639-61E0-D029-A695-EA35885BF722}"/>
              </a:ext>
            </a:extLst>
          </p:cNvPr>
          <p:cNvSpPr/>
          <p:nvPr/>
        </p:nvSpPr>
        <p:spPr>
          <a:xfrm>
            <a:off x="5410193" y="5079138"/>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40" name="Rectangle 39">
            <a:extLst>
              <a:ext uri="{FF2B5EF4-FFF2-40B4-BE49-F238E27FC236}">
                <a16:creationId xmlns:a16="http://schemas.microsoft.com/office/drawing/2014/main" id="{CE823CB4-1897-D19C-6D4F-345F4959F412}"/>
              </a:ext>
            </a:extLst>
          </p:cNvPr>
          <p:cNvSpPr/>
          <p:nvPr/>
        </p:nvSpPr>
        <p:spPr>
          <a:xfrm>
            <a:off x="5410192" y="5819123"/>
            <a:ext cx="1081669" cy="61023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41" name="TextBox 40">
            <a:extLst>
              <a:ext uri="{FF2B5EF4-FFF2-40B4-BE49-F238E27FC236}">
                <a16:creationId xmlns:a16="http://schemas.microsoft.com/office/drawing/2014/main" id="{6CB079BC-0615-5186-4B9B-4DDE32D8219D}"/>
              </a:ext>
            </a:extLst>
          </p:cNvPr>
          <p:cNvSpPr txBox="1"/>
          <p:nvPr/>
        </p:nvSpPr>
        <p:spPr>
          <a:xfrm>
            <a:off x="0" y="1011939"/>
            <a:ext cx="3429000" cy="938719"/>
          </a:xfrm>
          <a:prstGeom prst="rect">
            <a:avLst/>
          </a:prstGeom>
          <a:noFill/>
        </p:spPr>
        <p:txBody>
          <a:bodyPr wrap="square" rtlCol="0">
            <a:spAutoFit/>
          </a:bodyPr>
          <a:lstStyle/>
          <a:p>
            <a:r>
              <a:rPr lang="en-US" sz="900" b="1" dirty="0"/>
              <a:t>Instructions |</a:t>
            </a:r>
            <a:r>
              <a:rPr lang="en-US" sz="900" dirty="0"/>
              <a:t> Start by identifying two or more mitigation options under consideration. Then evaluate each option across the components listed below, using a 1–5 scale for each. Apply a combination of expert and stakeholder judgment to ensure that a broad range of perspectives inform the scoring process.</a:t>
            </a:r>
          </a:p>
          <a:p>
            <a:endParaRPr lang="en-US" sz="1000" dirty="0"/>
          </a:p>
        </p:txBody>
      </p:sp>
      <p:sp>
        <p:nvSpPr>
          <p:cNvPr id="44" name="Rectangle 43">
            <a:extLst>
              <a:ext uri="{FF2B5EF4-FFF2-40B4-BE49-F238E27FC236}">
                <a16:creationId xmlns:a16="http://schemas.microsoft.com/office/drawing/2014/main" id="{5FFD34A9-6DC6-2050-EA5A-43C05A180A84}"/>
              </a:ext>
            </a:extLst>
          </p:cNvPr>
          <p:cNvSpPr/>
          <p:nvPr/>
        </p:nvSpPr>
        <p:spPr>
          <a:xfrm>
            <a:off x="278775" y="6907867"/>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Reliability </a:t>
            </a:r>
          </a:p>
          <a:p>
            <a:pPr algn="ctr"/>
            <a:r>
              <a:rPr lang="en-US" sz="600" dirty="0">
                <a:solidFill>
                  <a:schemeClr val="bg1">
                    <a:lumMod val="65000"/>
                  </a:schemeClr>
                </a:solidFill>
              </a:rPr>
              <a:t>Score (A)</a:t>
            </a:r>
          </a:p>
        </p:txBody>
      </p:sp>
      <p:sp>
        <p:nvSpPr>
          <p:cNvPr id="46" name="Rectangle 45">
            <a:extLst>
              <a:ext uri="{FF2B5EF4-FFF2-40B4-BE49-F238E27FC236}">
                <a16:creationId xmlns:a16="http://schemas.microsoft.com/office/drawing/2014/main" id="{7A398EF3-DA2D-CB0B-425E-7251E244AF79}"/>
              </a:ext>
            </a:extLst>
          </p:cNvPr>
          <p:cNvSpPr/>
          <p:nvPr/>
        </p:nvSpPr>
        <p:spPr>
          <a:xfrm>
            <a:off x="1316303" y="6907867"/>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Resilience</a:t>
            </a:r>
          </a:p>
          <a:p>
            <a:pPr algn="ctr"/>
            <a:r>
              <a:rPr lang="en-US" sz="600" dirty="0">
                <a:solidFill>
                  <a:schemeClr val="bg1">
                    <a:lumMod val="65000"/>
                  </a:schemeClr>
                </a:solidFill>
              </a:rPr>
              <a:t>Score (A)</a:t>
            </a:r>
          </a:p>
        </p:txBody>
      </p:sp>
      <p:sp>
        <p:nvSpPr>
          <p:cNvPr id="47" name="Rectangle 46">
            <a:extLst>
              <a:ext uri="{FF2B5EF4-FFF2-40B4-BE49-F238E27FC236}">
                <a16:creationId xmlns:a16="http://schemas.microsoft.com/office/drawing/2014/main" id="{2E0B41CB-E238-C767-3575-5E31ED2D84DD}"/>
              </a:ext>
            </a:extLst>
          </p:cNvPr>
          <p:cNvSpPr/>
          <p:nvPr/>
        </p:nvSpPr>
        <p:spPr>
          <a:xfrm>
            <a:off x="2511337" y="6907867"/>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Feasibility</a:t>
            </a:r>
          </a:p>
          <a:p>
            <a:pPr algn="ctr"/>
            <a:r>
              <a:rPr lang="en-US" sz="600" dirty="0">
                <a:solidFill>
                  <a:schemeClr val="bg1">
                    <a:lumMod val="65000"/>
                  </a:schemeClr>
                </a:solidFill>
              </a:rPr>
              <a:t>Score (A)</a:t>
            </a:r>
          </a:p>
        </p:txBody>
      </p:sp>
      <p:sp>
        <p:nvSpPr>
          <p:cNvPr id="48" name="Rectangle 47">
            <a:extLst>
              <a:ext uri="{FF2B5EF4-FFF2-40B4-BE49-F238E27FC236}">
                <a16:creationId xmlns:a16="http://schemas.microsoft.com/office/drawing/2014/main" id="{3C3B37B6-A252-19E4-357D-0582417FF678}"/>
              </a:ext>
            </a:extLst>
          </p:cNvPr>
          <p:cNvSpPr/>
          <p:nvPr/>
        </p:nvSpPr>
        <p:spPr>
          <a:xfrm>
            <a:off x="3548865" y="6907867"/>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Acceptability</a:t>
            </a:r>
          </a:p>
          <a:p>
            <a:pPr algn="ctr"/>
            <a:r>
              <a:rPr lang="en-US" sz="600" dirty="0">
                <a:solidFill>
                  <a:schemeClr val="bg1">
                    <a:lumMod val="65000"/>
                  </a:schemeClr>
                </a:solidFill>
              </a:rPr>
              <a:t>Score (A)</a:t>
            </a:r>
          </a:p>
        </p:txBody>
      </p:sp>
      <p:sp>
        <p:nvSpPr>
          <p:cNvPr id="49" name="Rectangle 48">
            <a:extLst>
              <a:ext uri="{FF2B5EF4-FFF2-40B4-BE49-F238E27FC236}">
                <a16:creationId xmlns:a16="http://schemas.microsoft.com/office/drawing/2014/main" id="{6A3AD0F9-050E-B956-B1B6-AF2B8DCABB3F}"/>
              </a:ext>
            </a:extLst>
          </p:cNvPr>
          <p:cNvSpPr/>
          <p:nvPr/>
        </p:nvSpPr>
        <p:spPr>
          <a:xfrm>
            <a:off x="4627273" y="6911460"/>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Vuln. Pop.</a:t>
            </a:r>
          </a:p>
          <a:p>
            <a:pPr algn="ctr"/>
            <a:r>
              <a:rPr lang="en-US" sz="600" dirty="0">
                <a:solidFill>
                  <a:schemeClr val="bg1">
                    <a:lumMod val="65000"/>
                  </a:schemeClr>
                </a:solidFill>
              </a:rPr>
              <a:t>Score (A)</a:t>
            </a:r>
          </a:p>
        </p:txBody>
      </p:sp>
      <p:sp>
        <p:nvSpPr>
          <p:cNvPr id="50" name="TextBox 49">
            <a:extLst>
              <a:ext uri="{FF2B5EF4-FFF2-40B4-BE49-F238E27FC236}">
                <a16:creationId xmlns:a16="http://schemas.microsoft.com/office/drawing/2014/main" id="{CB77F607-16F7-EA52-3EFA-1DE6880C582C}"/>
              </a:ext>
            </a:extLst>
          </p:cNvPr>
          <p:cNvSpPr txBox="1"/>
          <p:nvPr/>
        </p:nvSpPr>
        <p:spPr>
          <a:xfrm>
            <a:off x="1006388" y="6903382"/>
            <a:ext cx="309915" cy="369332"/>
          </a:xfrm>
          <a:prstGeom prst="rect">
            <a:avLst/>
          </a:prstGeom>
          <a:noFill/>
        </p:spPr>
        <p:txBody>
          <a:bodyPr wrap="square" rtlCol="0">
            <a:spAutoFit/>
          </a:bodyPr>
          <a:lstStyle/>
          <a:p>
            <a:pPr algn="ctr"/>
            <a:r>
              <a:rPr lang="en-US" dirty="0"/>
              <a:t>+</a:t>
            </a:r>
          </a:p>
        </p:txBody>
      </p:sp>
      <p:sp>
        <p:nvSpPr>
          <p:cNvPr id="52" name="TextBox 51">
            <a:extLst>
              <a:ext uri="{FF2B5EF4-FFF2-40B4-BE49-F238E27FC236}">
                <a16:creationId xmlns:a16="http://schemas.microsoft.com/office/drawing/2014/main" id="{B3F18AFA-5031-4282-D5EF-E7B7D264A572}"/>
              </a:ext>
            </a:extLst>
          </p:cNvPr>
          <p:cNvSpPr txBox="1"/>
          <p:nvPr/>
        </p:nvSpPr>
        <p:spPr>
          <a:xfrm>
            <a:off x="3238949" y="6911460"/>
            <a:ext cx="309916" cy="369332"/>
          </a:xfrm>
          <a:prstGeom prst="rect">
            <a:avLst/>
          </a:prstGeom>
          <a:noFill/>
        </p:spPr>
        <p:txBody>
          <a:bodyPr wrap="square">
            <a:spAutoFit/>
          </a:bodyPr>
          <a:lstStyle/>
          <a:p>
            <a:pPr algn="ctr"/>
            <a:r>
              <a:rPr lang="en-US" dirty="0"/>
              <a:t>×</a:t>
            </a:r>
          </a:p>
        </p:txBody>
      </p:sp>
      <p:sp>
        <p:nvSpPr>
          <p:cNvPr id="53" name="TextBox 52">
            <a:extLst>
              <a:ext uri="{FF2B5EF4-FFF2-40B4-BE49-F238E27FC236}">
                <a16:creationId xmlns:a16="http://schemas.microsoft.com/office/drawing/2014/main" id="{59B3A1DE-1440-047E-0FA1-75A6796A2032}"/>
              </a:ext>
            </a:extLst>
          </p:cNvPr>
          <p:cNvSpPr txBox="1"/>
          <p:nvPr/>
        </p:nvSpPr>
        <p:spPr>
          <a:xfrm>
            <a:off x="4296917" y="6911460"/>
            <a:ext cx="309916" cy="369332"/>
          </a:xfrm>
          <a:prstGeom prst="rect">
            <a:avLst/>
          </a:prstGeom>
          <a:noFill/>
        </p:spPr>
        <p:txBody>
          <a:bodyPr wrap="square">
            <a:spAutoFit/>
          </a:bodyPr>
          <a:lstStyle/>
          <a:p>
            <a:pPr algn="ctr"/>
            <a:r>
              <a:rPr lang="en-US" dirty="0"/>
              <a:t>×</a:t>
            </a:r>
          </a:p>
        </p:txBody>
      </p:sp>
      <p:sp>
        <p:nvSpPr>
          <p:cNvPr id="54" name="TextBox 53">
            <a:extLst>
              <a:ext uri="{FF2B5EF4-FFF2-40B4-BE49-F238E27FC236}">
                <a16:creationId xmlns:a16="http://schemas.microsoft.com/office/drawing/2014/main" id="{1590D10B-2F85-41BD-3D7B-663D8275C6E9}"/>
              </a:ext>
            </a:extLst>
          </p:cNvPr>
          <p:cNvSpPr txBox="1"/>
          <p:nvPr/>
        </p:nvSpPr>
        <p:spPr>
          <a:xfrm>
            <a:off x="2130425" y="6911460"/>
            <a:ext cx="378364" cy="369332"/>
          </a:xfrm>
          <a:prstGeom prst="rect">
            <a:avLst/>
          </a:prstGeom>
          <a:noFill/>
        </p:spPr>
        <p:txBody>
          <a:bodyPr wrap="square">
            <a:spAutoFit/>
          </a:bodyPr>
          <a:lstStyle/>
          <a:p>
            <a:pPr algn="ctr"/>
            <a:r>
              <a:rPr lang="en-US" dirty="0"/>
              <a:t>×</a:t>
            </a:r>
          </a:p>
        </p:txBody>
      </p:sp>
      <p:sp>
        <p:nvSpPr>
          <p:cNvPr id="55" name="TextBox 54">
            <a:extLst>
              <a:ext uri="{FF2B5EF4-FFF2-40B4-BE49-F238E27FC236}">
                <a16:creationId xmlns:a16="http://schemas.microsoft.com/office/drawing/2014/main" id="{734E8160-13CC-97DA-561C-16F95971DFB1}"/>
              </a:ext>
            </a:extLst>
          </p:cNvPr>
          <p:cNvSpPr txBox="1"/>
          <p:nvPr/>
        </p:nvSpPr>
        <p:spPr>
          <a:xfrm>
            <a:off x="2022984" y="6911460"/>
            <a:ext cx="197727" cy="369332"/>
          </a:xfrm>
          <a:prstGeom prst="rect">
            <a:avLst/>
          </a:prstGeom>
          <a:noFill/>
        </p:spPr>
        <p:txBody>
          <a:bodyPr wrap="square">
            <a:spAutoFit/>
          </a:bodyPr>
          <a:lstStyle/>
          <a:p>
            <a:r>
              <a:rPr lang="en-US" dirty="0"/>
              <a:t>)</a:t>
            </a:r>
          </a:p>
        </p:txBody>
      </p:sp>
      <p:sp>
        <p:nvSpPr>
          <p:cNvPr id="56" name="TextBox 55">
            <a:extLst>
              <a:ext uri="{FF2B5EF4-FFF2-40B4-BE49-F238E27FC236}">
                <a16:creationId xmlns:a16="http://schemas.microsoft.com/office/drawing/2014/main" id="{2BAC02B7-C2DA-E77A-E75F-1B53B06113A4}"/>
              </a:ext>
            </a:extLst>
          </p:cNvPr>
          <p:cNvSpPr txBox="1"/>
          <p:nvPr/>
        </p:nvSpPr>
        <p:spPr>
          <a:xfrm>
            <a:off x="123817" y="6898897"/>
            <a:ext cx="152409" cy="369332"/>
          </a:xfrm>
          <a:prstGeom prst="rect">
            <a:avLst/>
          </a:prstGeom>
          <a:noFill/>
        </p:spPr>
        <p:txBody>
          <a:bodyPr wrap="square">
            <a:spAutoFit/>
          </a:bodyPr>
          <a:lstStyle/>
          <a:p>
            <a:pPr algn="ctr"/>
            <a:r>
              <a:rPr lang="en-US" dirty="0"/>
              <a:t>(</a:t>
            </a:r>
          </a:p>
        </p:txBody>
      </p:sp>
      <p:cxnSp>
        <p:nvCxnSpPr>
          <p:cNvPr id="58" name="Straight Connector 57">
            <a:extLst>
              <a:ext uri="{FF2B5EF4-FFF2-40B4-BE49-F238E27FC236}">
                <a16:creationId xmlns:a16="http://schemas.microsoft.com/office/drawing/2014/main" id="{EEC3A991-0A40-2727-6B64-4EE5268177A0}"/>
              </a:ext>
            </a:extLst>
          </p:cNvPr>
          <p:cNvCxnSpPr/>
          <p:nvPr/>
        </p:nvCxnSpPr>
        <p:spPr>
          <a:xfrm>
            <a:off x="89206" y="7363111"/>
            <a:ext cx="536984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FCD10E01-0CA0-84F9-FD2A-80FA29EE5923}"/>
              </a:ext>
            </a:extLst>
          </p:cNvPr>
          <p:cNvSpPr/>
          <p:nvPr/>
        </p:nvSpPr>
        <p:spPr>
          <a:xfrm>
            <a:off x="2511336" y="7466302"/>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Cost</a:t>
            </a:r>
          </a:p>
          <a:p>
            <a:pPr algn="ctr"/>
            <a:r>
              <a:rPr lang="en-US" sz="600" dirty="0">
                <a:solidFill>
                  <a:schemeClr val="bg1">
                    <a:lumMod val="65000"/>
                  </a:schemeClr>
                </a:solidFill>
              </a:rPr>
              <a:t>Score (A)</a:t>
            </a:r>
          </a:p>
        </p:txBody>
      </p:sp>
      <p:sp>
        <p:nvSpPr>
          <p:cNvPr id="60" name="TextBox 59">
            <a:extLst>
              <a:ext uri="{FF2B5EF4-FFF2-40B4-BE49-F238E27FC236}">
                <a16:creationId xmlns:a16="http://schemas.microsoft.com/office/drawing/2014/main" id="{A4195D35-DA02-608B-2071-269E04597F7D}"/>
              </a:ext>
            </a:extLst>
          </p:cNvPr>
          <p:cNvSpPr txBox="1"/>
          <p:nvPr/>
        </p:nvSpPr>
        <p:spPr>
          <a:xfrm>
            <a:off x="5502470" y="7187704"/>
            <a:ext cx="309916" cy="369332"/>
          </a:xfrm>
          <a:prstGeom prst="rect">
            <a:avLst/>
          </a:prstGeom>
          <a:noFill/>
        </p:spPr>
        <p:txBody>
          <a:bodyPr wrap="square">
            <a:spAutoFit/>
          </a:bodyPr>
          <a:lstStyle/>
          <a:p>
            <a:pPr algn="ctr"/>
            <a:r>
              <a:rPr lang="en-US" dirty="0"/>
              <a:t>=</a:t>
            </a:r>
          </a:p>
        </p:txBody>
      </p:sp>
      <p:sp>
        <p:nvSpPr>
          <p:cNvPr id="61" name="Rectangle 60">
            <a:extLst>
              <a:ext uri="{FF2B5EF4-FFF2-40B4-BE49-F238E27FC236}">
                <a16:creationId xmlns:a16="http://schemas.microsoft.com/office/drawing/2014/main" id="{5B899B4D-F45B-2A25-5A85-CF2EC4A98DD2}"/>
              </a:ext>
            </a:extLst>
          </p:cNvPr>
          <p:cNvSpPr/>
          <p:nvPr/>
        </p:nvSpPr>
        <p:spPr>
          <a:xfrm>
            <a:off x="5864637" y="7107020"/>
            <a:ext cx="904157" cy="54083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62" name="Rectangle 61">
            <a:extLst>
              <a:ext uri="{FF2B5EF4-FFF2-40B4-BE49-F238E27FC236}">
                <a16:creationId xmlns:a16="http://schemas.microsoft.com/office/drawing/2014/main" id="{BE0DD680-9D54-E8A7-629D-03D710F1F507}"/>
              </a:ext>
            </a:extLst>
          </p:cNvPr>
          <p:cNvSpPr/>
          <p:nvPr/>
        </p:nvSpPr>
        <p:spPr>
          <a:xfrm>
            <a:off x="278775" y="8193469"/>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Reliability </a:t>
            </a:r>
          </a:p>
          <a:p>
            <a:pPr algn="ctr"/>
            <a:r>
              <a:rPr lang="en-US" sz="600" dirty="0">
                <a:solidFill>
                  <a:schemeClr val="bg1">
                    <a:lumMod val="65000"/>
                  </a:schemeClr>
                </a:solidFill>
              </a:rPr>
              <a:t>Score (B)</a:t>
            </a:r>
          </a:p>
        </p:txBody>
      </p:sp>
      <p:sp>
        <p:nvSpPr>
          <p:cNvPr id="63" name="Rectangle 62">
            <a:extLst>
              <a:ext uri="{FF2B5EF4-FFF2-40B4-BE49-F238E27FC236}">
                <a16:creationId xmlns:a16="http://schemas.microsoft.com/office/drawing/2014/main" id="{311C28F4-1066-C197-0F0A-BBA8626E787E}"/>
              </a:ext>
            </a:extLst>
          </p:cNvPr>
          <p:cNvSpPr/>
          <p:nvPr/>
        </p:nvSpPr>
        <p:spPr>
          <a:xfrm>
            <a:off x="1316303" y="8193469"/>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Resilience</a:t>
            </a:r>
          </a:p>
          <a:p>
            <a:pPr algn="ctr"/>
            <a:r>
              <a:rPr lang="en-US" sz="600" dirty="0">
                <a:solidFill>
                  <a:schemeClr val="bg1">
                    <a:lumMod val="65000"/>
                  </a:schemeClr>
                </a:solidFill>
              </a:rPr>
              <a:t>Score (B)</a:t>
            </a:r>
          </a:p>
        </p:txBody>
      </p:sp>
      <p:sp>
        <p:nvSpPr>
          <p:cNvPr id="64" name="Rectangle 63">
            <a:extLst>
              <a:ext uri="{FF2B5EF4-FFF2-40B4-BE49-F238E27FC236}">
                <a16:creationId xmlns:a16="http://schemas.microsoft.com/office/drawing/2014/main" id="{65253742-35B7-953C-BC4E-5EA85FE1829C}"/>
              </a:ext>
            </a:extLst>
          </p:cNvPr>
          <p:cNvSpPr/>
          <p:nvPr/>
        </p:nvSpPr>
        <p:spPr>
          <a:xfrm>
            <a:off x="2511337" y="8193469"/>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Feasibility</a:t>
            </a:r>
          </a:p>
          <a:p>
            <a:pPr algn="ctr"/>
            <a:r>
              <a:rPr lang="en-US" sz="600" dirty="0">
                <a:solidFill>
                  <a:schemeClr val="bg1">
                    <a:lumMod val="65000"/>
                  </a:schemeClr>
                </a:solidFill>
              </a:rPr>
              <a:t>Score (B)</a:t>
            </a:r>
          </a:p>
        </p:txBody>
      </p:sp>
      <p:sp>
        <p:nvSpPr>
          <p:cNvPr id="65" name="Rectangle 64">
            <a:extLst>
              <a:ext uri="{FF2B5EF4-FFF2-40B4-BE49-F238E27FC236}">
                <a16:creationId xmlns:a16="http://schemas.microsoft.com/office/drawing/2014/main" id="{592EA502-8921-7385-286E-2191F1D8BB67}"/>
              </a:ext>
            </a:extLst>
          </p:cNvPr>
          <p:cNvSpPr/>
          <p:nvPr/>
        </p:nvSpPr>
        <p:spPr>
          <a:xfrm>
            <a:off x="3548865" y="8193469"/>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Acceptability</a:t>
            </a:r>
          </a:p>
          <a:p>
            <a:pPr algn="ctr"/>
            <a:r>
              <a:rPr lang="en-US" sz="600" dirty="0">
                <a:solidFill>
                  <a:schemeClr val="bg1">
                    <a:lumMod val="65000"/>
                  </a:schemeClr>
                </a:solidFill>
              </a:rPr>
              <a:t>Score (B)</a:t>
            </a:r>
          </a:p>
        </p:txBody>
      </p:sp>
      <p:sp>
        <p:nvSpPr>
          <p:cNvPr id="66" name="Rectangle 65">
            <a:extLst>
              <a:ext uri="{FF2B5EF4-FFF2-40B4-BE49-F238E27FC236}">
                <a16:creationId xmlns:a16="http://schemas.microsoft.com/office/drawing/2014/main" id="{52B6805E-6BA3-6261-7F6D-F2454BD297FC}"/>
              </a:ext>
            </a:extLst>
          </p:cNvPr>
          <p:cNvSpPr/>
          <p:nvPr/>
        </p:nvSpPr>
        <p:spPr>
          <a:xfrm>
            <a:off x="4627273" y="8197062"/>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Vuln. Pop.</a:t>
            </a:r>
          </a:p>
          <a:p>
            <a:pPr algn="ctr"/>
            <a:r>
              <a:rPr lang="en-US" sz="600" dirty="0">
                <a:solidFill>
                  <a:schemeClr val="bg1">
                    <a:lumMod val="65000"/>
                  </a:schemeClr>
                </a:solidFill>
              </a:rPr>
              <a:t>Score (B)</a:t>
            </a:r>
          </a:p>
        </p:txBody>
      </p:sp>
      <p:sp>
        <p:nvSpPr>
          <p:cNvPr id="67" name="TextBox 66">
            <a:extLst>
              <a:ext uri="{FF2B5EF4-FFF2-40B4-BE49-F238E27FC236}">
                <a16:creationId xmlns:a16="http://schemas.microsoft.com/office/drawing/2014/main" id="{5F9086F7-25FA-AED3-862F-32F7A59727F3}"/>
              </a:ext>
            </a:extLst>
          </p:cNvPr>
          <p:cNvSpPr txBox="1"/>
          <p:nvPr/>
        </p:nvSpPr>
        <p:spPr>
          <a:xfrm>
            <a:off x="1006388" y="8188984"/>
            <a:ext cx="309915" cy="369332"/>
          </a:xfrm>
          <a:prstGeom prst="rect">
            <a:avLst/>
          </a:prstGeom>
          <a:noFill/>
        </p:spPr>
        <p:txBody>
          <a:bodyPr wrap="square" rtlCol="0">
            <a:spAutoFit/>
          </a:bodyPr>
          <a:lstStyle/>
          <a:p>
            <a:pPr algn="ctr"/>
            <a:r>
              <a:rPr lang="en-US" dirty="0"/>
              <a:t>+</a:t>
            </a:r>
          </a:p>
        </p:txBody>
      </p:sp>
      <p:sp>
        <p:nvSpPr>
          <p:cNvPr id="68" name="TextBox 67">
            <a:extLst>
              <a:ext uri="{FF2B5EF4-FFF2-40B4-BE49-F238E27FC236}">
                <a16:creationId xmlns:a16="http://schemas.microsoft.com/office/drawing/2014/main" id="{A4F81E7E-E38C-D4F4-2BB7-8C185F87E43E}"/>
              </a:ext>
            </a:extLst>
          </p:cNvPr>
          <p:cNvSpPr txBox="1"/>
          <p:nvPr/>
        </p:nvSpPr>
        <p:spPr>
          <a:xfrm>
            <a:off x="3238949" y="8197062"/>
            <a:ext cx="309916" cy="369332"/>
          </a:xfrm>
          <a:prstGeom prst="rect">
            <a:avLst/>
          </a:prstGeom>
          <a:noFill/>
        </p:spPr>
        <p:txBody>
          <a:bodyPr wrap="square">
            <a:spAutoFit/>
          </a:bodyPr>
          <a:lstStyle/>
          <a:p>
            <a:pPr algn="ctr"/>
            <a:r>
              <a:rPr lang="en-US" dirty="0"/>
              <a:t>×</a:t>
            </a:r>
          </a:p>
        </p:txBody>
      </p:sp>
      <p:sp>
        <p:nvSpPr>
          <p:cNvPr id="69" name="TextBox 68">
            <a:extLst>
              <a:ext uri="{FF2B5EF4-FFF2-40B4-BE49-F238E27FC236}">
                <a16:creationId xmlns:a16="http://schemas.microsoft.com/office/drawing/2014/main" id="{A035F79A-EE15-C6B8-6D6C-B0E9B604BAD3}"/>
              </a:ext>
            </a:extLst>
          </p:cNvPr>
          <p:cNvSpPr txBox="1"/>
          <p:nvPr/>
        </p:nvSpPr>
        <p:spPr>
          <a:xfrm>
            <a:off x="4296917" y="8197062"/>
            <a:ext cx="309916" cy="369332"/>
          </a:xfrm>
          <a:prstGeom prst="rect">
            <a:avLst/>
          </a:prstGeom>
          <a:noFill/>
        </p:spPr>
        <p:txBody>
          <a:bodyPr wrap="square">
            <a:spAutoFit/>
          </a:bodyPr>
          <a:lstStyle/>
          <a:p>
            <a:pPr algn="ctr"/>
            <a:r>
              <a:rPr lang="en-US" dirty="0"/>
              <a:t>×</a:t>
            </a:r>
          </a:p>
        </p:txBody>
      </p:sp>
      <p:sp>
        <p:nvSpPr>
          <p:cNvPr id="70" name="TextBox 69">
            <a:extLst>
              <a:ext uri="{FF2B5EF4-FFF2-40B4-BE49-F238E27FC236}">
                <a16:creationId xmlns:a16="http://schemas.microsoft.com/office/drawing/2014/main" id="{FAAABCB3-E86D-D035-9437-B0AD7C9429FB}"/>
              </a:ext>
            </a:extLst>
          </p:cNvPr>
          <p:cNvSpPr txBox="1"/>
          <p:nvPr/>
        </p:nvSpPr>
        <p:spPr>
          <a:xfrm>
            <a:off x="2130425" y="8197062"/>
            <a:ext cx="378364" cy="369332"/>
          </a:xfrm>
          <a:prstGeom prst="rect">
            <a:avLst/>
          </a:prstGeom>
          <a:noFill/>
        </p:spPr>
        <p:txBody>
          <a:bodyPr wrap="square">
            <a:spAutoFit/>
          </a:bodyPr>
          <a:lstStyle/>
          <a:p>
            <a:pPr algn="ctr"/>
            <a:r>
              <a:rPr lang="en-US" dirty="0"/>
              <a:t>×</a:t>
            </a:r>
          </a:p>
        </p:txBody>
      </p:sp>
      <p:sp>
        <p:nvSpPr>
          <p:cNvPr id="71" name="TextBox 70">
            <a:extLst>
              <a:ext uri="{FF2B5EF4-FFF2-40B4-BE49-F238E27FC236}">
                <a16:creationId xmlns:a16="http://schemas.microsoft.com/office/drawing/2014/main" id="{292196DD-A28B-4075-CB3E-1842B9F76059}"/>
              </a:ext>
            </a:extLst>
          </p:cNvPr>
          <p:cNvSpPr txBox="1"/>
          <p:nvPr/>
        </p:nvSpPr>
        <p:spPr>
          <a:xfrm>
            <a:off x="2022984" y="8197062"/>
            <a:ext cx="197727" cy="369332"/>
          </a:xfrm>
          <a:prstGeom prst="rect">
            <a:avLst/>
          </a:prstGeom>
          <a:noFill/>
        </p:spPr>
        <p:txBody>
          <a:bodyPr wrap="square">
            <a:spAutoFit/>
          </a:bodyPr>
          <a:lstStyle/>
          <a:p>
            <a:r>
              <a:rPr lang="en-US" dirty="0"/>
              <a:t>)</a:t>
            </a:r>
          </a:p>
        </p:txBody>
      </p:sp>
      <p:sp>
        <p:nvSpPr>
          <p:cNvPr id="72" name="TextBox 71">
            <a:extLst>
              <a:ext uri="{FF2B5EF4-FFF2-40B4-BE49-F238E27FC236}">
                <a16:creationId xmlns:a16="http://schemas.microsoft.com/office/drawing/2014/main" id="{6C5BF9E2-965E-3F1C-C5DF-D31A354CA4E9}"/>
              </a:ext>
            </a:extLst>
          </p:cNvPr>
          <p:cNvSpPr txBox="1"/>
          <p:nvPr/>
        </p:nvSpPr>
        <p:spPr>
          <a:xfrm>
            <a:off x="123817" y="8184499"/>
            <a:ext cx="152409" cy="369332"/>
          </a:xfrm>
          <a:prstGeom prst="rect">
            <a:avLst/>
          </a:prstGeom>
          <a:noFill/>
        </p:spPr>
        <p:txBody>
          <a:bodyPr wrap="square">
            <a:spAutoFit/>
          </a:bodyPr>
          <a:lstStyle/>
          <a:p>
            <a:pPr algn="ctr"/>
            <a:r>
              <a:rPr lang="en-US" dirty="0"/>
              <a:t>(</a:t>
            </a:r>
          </a:p>
        </p:txBody>
      </p:sp>
      <p:cxnSp>
        <p:nvCxnSpPr>
          <p:cNvPr id="73" name="Straight Connector 72">
            <a:extLst>
              <a:ext uri="{FF2B5EF4-FFF2-40B4-BE49-F238E27FC236}">
                <a16:creationId xmlns:a16="http://schemas.microsoft.com/office/drawing/2014/main" id="{3402BB07-5116-41DD-D3B5-2F6C3C3DCA92}"/>
              </a:ext>
            </a:extLst>
          </p:cNvPr>
          <p:cNvCxnSpPr/>
          <p:nvPr/>
        </p:nvCxnSpPr>
        <p:spPr>
          <a:xfrm>
            <a:off x="89206" y="8648713"/>
            <a:ext cx="536984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1A546729-EF18-D8C6-935E-9C69772A9753}"/>
              </a:ext>
            </a:extLst>
          </p:cNvPr>
          <p:cNvSpPr/>
          <p:nvPr/>
        </p:nvSpPr>
        <p:spPr>
          <a:xfrm>
            <a:off x="2511336" y="8751904"/>
            <a:ext cx="727613" cy="36036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600" dirty="0">
                <a:solidFill>
                  <a:schemeClr val="bg1">
                    <a:lumMod val="65000"/>
                  </a:schemeClr>
                </a:solidFill>
              </a:rPr>
              <a:t>Cost</a:t>
            </a:r>
          </a:p>
          <a:p>
            <a:pPr algn="ctr"/>
            <a:r>
              <a:rPr lang="en-US" sz="600" dirty="0">
                <a:solidFill>
                  <a:schemeClr val="bg1">
                    <a:lumMod val="65000"/>
                  </a:schemeClr>
                </a:solidFill>
              </a:rPr>
              <a:t>Score (B)</a:t>
            </a:r>
          </a:p>
        </p:txBody>
      </p:sp>
      <p:sp>
        <p:nvSpPr>
          <p:cNvPr id="75" name="TextBox 74">
            <a:extLst>
              <a:ext uri="{FF2B5EF4-FFF2-40B4-BE49-F238E27FC236}">
                <a16:creationId xmlns:a16="http://schemas.microsoft.com/office/drawing/2014/main" id="{8BB45877-1658-D757-A013-2D4E712EA1C7}"/>
              </a:ext>
            </a:extLst>
          </p:cNvPr>
          <p:cNvSpPr txBox="1"/>
          <p:nvPr/>
        </p:nvSpPr>
        <p:spPr>
          <a:xfrm>
            <a:off x="5502470" y="8473306"/>
            <a:ext cx="309916" cy="369332"/>
          </a:xfrm>
          <a:prstGeom prst="rect">
            <a:avLst/>
          </a:prstGeom>
          <a:noFill/>
        </p:spPr>
        <p:txBody>
          <a:bodyPr wrap="square">
            <a:spAutoFit/>
          </a:bodyPr>
          <a:lstStyle/>
          <a:p>
            <a:pPr algn="ctr"/>
            <a:r>
              <a:rPr lang="en-US" dirty="0"/>
              <a:t>=</a:t>
            </a:r>
          </a:p>
        </p:txBody>
      </p:sp>
      <p:sp>
        <p:nvSpPr>
          <p:cNvPr id="76" name="Rectangle 75">
            <a:extLst>
              <a:ext uri="{FF2B5EF4-FFF2-40B4-BE49-F238E27FC236}">
                <a16:creationId xmlns:a16="http://schemas.microsoft.com/office/drawing/2014/main" id="{C0935775-9290-E875-0A75-973041452B02}"/>
              </a:ext>
            </a:extLst>
          </p:cNvPr>
          <p:cNvSpPr/>
          <p:nvPr/>
        </p:nvSpPr>
        <p:spPr>
          <a:xfrm>
            <a:off x="5864637" y="8387014"/>
            <a:ext cx="904157" cy="540831"/>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600" dirty="0"/>
          </a:p>
        </p:txBody>
      </p:sp>
      <p:sp>
        <p:nvSpPr>
          <p:cNvPr id="77" name="TextBox 76">
            <a:extLst>
              <a:ext uri="{FF2B5EF4-FFF2-40B4-BE49-F238E27FC236}">
                <a16:creationId xmlns:a16="http://schemas.microsoft.com/office/drawing/2014/main" id="{480E5330-11AF-614B-7F91-268AFC06FDCA}"/>
              </a:ext>
            </a:extLst>
          </p:cNvPr>
          <p:cNvSpPr txBox="1"/>
          <p:nvPr/>
        </p:nvSpPr>
        <p:spPr>
          <a:xfrm>
            <a:off x="3748666" y="1843132"/>
            <a:ext cx="2743195" cy="253916"/>
          </a:xfrm>
          <a:prstGeom prst="rect">
            <a:avLst/>
          </a:prstGeom>
          <a:noFill/>
        </p:spPr>
        <p:txBody>
          <a:bodyPr wrap="square" rtlCol="0">
            <a:spAutoFit/>
          </a:bodyPr>
          <a:lstStyle/>
          <a:p>
            <a:pPr algn="ctr"/>
            <a:r>
              <a:rPr lang="en-US" sz="1050" i="1" dirty="0">
                <a:latin typeface="Aptos Light" panose="020B0004020202020204" pitchFamily="34" charset="0"/>
              </a:rPr>
              <a:t>Write scores (1–5) here. ↴</a:t>
            </a:r>
          </a:p>
        </p:txBody>
      </p:sp>
      <p:sp>
        <p:nvSpPr>
          <p:cNvPr id="78" name="TextBox 77">
            <a:extLst>
              <a:ext uri="{FF2B5EF4-FFF2-40B4-BE49-F238E27FC236}">
                <a16:creationId xmlns:a16="http://schemas.microsoft.com/office/drawing/2014/main" id="{955C5495-9ADA-4DB7-AFEB-F22F120AF42C}"/>
              </a:ext>
            </a:extLst>
          </p:cNvPr>
          <p:cNvSpPr txBox="1"/>
          <p:nvPr/>
        </p:nvSpPr>
        <p:spPr>
          <a:xfrm>
            <a:off x="89206" y="6519733"/>
            <a:ext cx="4041092" cy="253916"/>
          </a:xfrm>
          <a:prstGeom prst="rect">
            <a:avLst/>
          </a:prstGeom>
          <a:noFill/>
        </p:spPr>
        <p:txBody>
          <a:bodyPr wrap="square" rtlCol="0">
            <a:spAutoFit/>
          </a:bodyPr>
          <a:lstStyle/>
          <a:p>
            <a:pPr algn="ctr"/>
            <a:r>
              <a:rPr lang="en-US" sz="1050" i="1" dirty="0">
                <a:latin typeface="Aptos Light" panose="020B0004020202020204" pitchFamily="34" charset="0"/>
              </a:rPr>
              <a:t>Copy the scores (1–5) you assigned above into the formulas below. ↴</a:t>
            </a:r>
          </a:p>
        </p:txBody>
      </p:sp>
      <p:sp>
        <p:nvSpPr>
          <p:cNvPr id="79" name="TextBox 78">
            <a:extLst>
              <a:ext uri="{FF2B5EF4-FFF2-40B4-BE49-F238E27FC236}">
                <a16:creationId xmlns:a16="http://schemas.microsoft.com/office/drawing/2014/main" id="{1437B5E4-F3D0-1987-275F-35C12337960B}"/>
              </a:ext>
            </a:extLst>
          </p:cNvPr>
          <p:cNvSpPr txBox="1"/>
          <p:nvPr/>
        </p:nvSpPr>
        <p:spPr>
          <a:xfrm>
            <a:off x="3512634" y="745930"/>
            <a:ext cx="3233853" cy="263252"/>
          </a:xfrm>
          <a:prstGeom prst="rect">
            <a:avLst/>
          </a:prstGeom>
          <a:noFill/>
        </p:spPr>
        <p:txBody>
          <a:bodyPr wrap="square" rtlCol="0">
            <a:spAutoFit/>
          </a:bodyPr>
          <a:lstStyle/>
          <a:p>
            <a:pPr algn="ctr"/>
            <a:r>
              <a:rPr lang="en-US" sz="1050" i="1" dirty="0">
                <a:latin typeface="Aptos Light" panose="020B0004020202020204" pitchFamily="34" charset="0"/>
              </a:rPr>
              <a:t>Write mitigation options here. ↴</a:t>
            </a:r>
          </a:p>
        </p:txBody>
      </p:sp>
      <p:sp>
        <p:nvSpPr>
          <p:cNvPr id="80" name="Rectangle 79">
            <a:extLst>
              <a:ext uri="{FF2B5EF4-FFF2-40B4-BE49-F238E27FC236}">
                <a16:creationId xmlns:a16="http://schemas.microsoft.com/office/drawing/2014/main" id="{B303D082-4195-A13C-5805-3A7F0BEA4C2C}"/>
              </a:ext>
            </a:extLst>
          </p:cNvPr>
          <p:cNvSpPr/>
          <p:nvPr/>
        </p:nvSpPr>
        <p:spPr>
          <a:xfrm>
            <a:off x="5790548" y="6746319"/>
            <a:ext cx="1040076" cy="44408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b="1" dirty="0"/>
              <a:t>ERRS for  Opt. A</a:t>
            </a:r>
            <a:endParaRPr lang="en-US" sz="800" dirty="0"/>
          </a:p>
        </p:txBody>
      </p:sp>
      <p:sp>
        <p:nvSpPr>
          <p:cNvPr id="81" name="Rectangle 80">
            <a:extLst>
              <a:ext uri="{FF2B5EF4-FFF2-40B4-BE49-F238E27FC236}">
                <a16:creationId xmlns:a16="http://schemas.microsoft.com/office/drawing/2014/main" id="{A5F40825-EACB-1038-0A21-5642E6ECD304}"/>
              </a:ext>
            </a:extLst>
          </p:cNvPr>
          <p:cNvSpPr/>
          <p:nvPr/>
        </p:nvSpPr>
        <p:spPr>
          <a:xfrm>
            <a:off x="5817924" y="8073086"/>
            <a:ext cx="1040076" cy="444087"/>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800" b="1" dirty="0"/>
              <a:t>ERRS for  Opt. B</a:t>
            </a:r>
            <a:endParaRPr lang="en-US" sz="800" dirty="0"/>
          </a:p>
        </p:txBody>
      </p:sp>
      <p:sp>
        <p:nvSpPr>
          <p:cNvPr id="82" name="TextBox 81">
            <a:extLst>
              <a:ext uri="{FF2B5EF4-FFF2-40B4-BE49-F238E27FC236}">
                <a16:creationId xmlns:a16="http://schemas.microsoft.com/office/drawing/2014/main" id="{8254A52B-BFDE-B7A0-1107-647AB6B3E696}"/>
              </a:ext>
            </a:extLst>
          </p:cNvPr>
          <p:cNvSpPr txBox="1"/>
          <p:nvPr/>
        </p:nvSpPr>
        <p:spPr>
          <a:xfrm>
            <a:off x="43839" y="6847936"/>
            <a:ext cx="152409" cy="461665"/>
          </a:xfrm>
          <a:prstGeom prst="rect">
            <a:avLst/>
          </a:prstGeom>
          <a:noFill/>
        </p:spPr>
        <p:txBody>
          <a:bodyPr wrap="square">
            <a:spAutoFit/>
          </a:bodyPr>
          <a:lstStyle/>
          <a:p>
            <a:pPr algn="ctr"/>
            <a:r>
              <a:rPr lang="en-US" sz="2400" dirty="0"/>
              <a:t>[</a:t>
            </a:r>
          </a:p>
        </p:txBody>
      </p:sp>
      <p:sp>
        <p:nvSpPr>
          <p:cNvPr id="83" name="TextBox 82">
            <a:extLst>
              <a:ext uri="{FF2B5EF4-FFF2-40B4-BE49-F238E27FC236}">
                <a16:creationId xmlns:a16="http://schemas.microsoft.com/office/drawing/2014/main" id="{46D0F8CE-26E6-1EA5-D708-07F35773C054}"/>
              </a:ext>
            </a:extLst>
          </p:cNvPr>
          <p:cNvSpPr txBox="1"/>
          <p:nvPr/>
        </p:nvSpPr>
        <p:spPr>
          <a:xfrm>
            <a:off x="5376556" y="6848002"/>
            <a:ext cx="152409" cy="461665"/>
          </a:xfrm>
          <a:prstGeom prst="rect">
            <a:avLst/>
          </a:prstGeom>
          <a:noFill/>
        </p:spPr>
        <p:txBody>
          <a:bodyPr wrap="square">
            <a:spAutoFit/>
          </a:bodyPr>
          <a:lstStyle/>
          <a:p>
            <a:pPr algn="ctr"/>
            <a:r>
              <a:rPr lang="en-US" sz="2400" dirty="0"/>
              <a:t>]</a:t>
            </a:r>
          </a:p>
        </p:txBody>
      </p:sp>
      <p:sp>
        <p:nvSpPr>
          <p:cNvPr id="84" name="TextBox 83">
            <a:extLst>
              <a:ext uri="{FF2B5EF4-FFF2-40B4-BE49-F238E27FC236}">
                <a16:creationId xmlns:a16="http://schemas.microsoft.com/office/drawing/2014/main" id="{EC15AF7B-8B5D-01EB-AB1D-A2A066352FBC}"/>
              </a:ext>
            </a:extLst>
          </p:cNvPr>
          <p:cNvSpPr txBox="1"/>
          <p:nvPr/>
        </p:nvSpPr>
        <p:spPr>
          <a:xfrm>
            <a:off x="11019" y="8129290"/>
            <a:ext cx="152409" cy="461665"/>
          </a:xfrm>
          <a:prstGeom prst="rect">
            <a:avLst/>
          </a:prstGeom>
          <a:noFill/>
        </p:spPr>
        <p:txBody>
          <a:bodyPr wrap="square">
            <a:spAutoFit/>
          </a:bodyPr>
          <a:lstStyle/>
          <a:p>
            <a:pPr algn="ctr"/>
            <a:r>
              <a:rPr lang="en-US" sz="2400" dirty="0"/>
              <a:t>[</a:t>
            </a:r>
          </a:p>
        </p:txBody>
      </p:sp>
      <p:sp>
        <p:nvSpPr>
          <p:cNvPr id="85" name="TextBox 84">
            <a:extLst>
              <a:ext uri="{FF2B5EF4-FFF2-40B4-BE49-F238E27FC236}">
                <a16:creationId xmlns:a16="http://schemas.microsoft.com/office/drawing/2014/main" id="{6A66D3C3-0BAF-1491-7B3C-865F22ECC47F}"/>
              </a:ext>
            </a:extLst>
          </p:cNvPr>
          <p:cNvSpPr txBox="1"/>
          <p:nvPr/>
        </p:nvSpPr>
        <p:spPr>
          <a:xfrm>
            <a:off x="5376556" y="8146498"/>
            <a:ext cx="152409" cy="461665"/>
          </a:xfrm>
          <a:prstGeom prst="rect">
            <a:avLst/>
          </a:prstGeom>
          <a:noFill/>
        </p:spPr>
        <p:txBody>
          <a:bodyPr wrap="square">
            <a:spAutoFit/>
          </a:bodyPr>
          <a:lstStyle/>
          <a:p>
            <a:pPr algn="ctr"/>
            <a:r>
              <a:rPr lang="en-US" sz="2400" dirty="0"/>
              <a:t>]</a:t>
            </a:r>
          </a:p>
        </p:txBody>
      </p:sp>
      <p:sp>
        <p:nvSpPr>
          <p:cNvPr id="86" name="TextBox 85">
            <a:extLst>
              <a:ext uri="{FF2B5EF4-FFF2-40B4-BE49-F238E27FC236}">
                <a16:creationId xmlns:a16="http://schemas.microsoft.com/office/drawing/2014/main" id="{57D7DA8D-377D-3616-18C9-6E8256D6963E}"/>
              </a:ext>
            </a:extLst>
          </p:cNvPr>
          <p:cNvSpPr txBox="1"/>
          <p:nvPr/>
        </p:nvSpPr>
        <p:spPr>
          <a:xfrm>
            <a:off x="4060556" y="6470903"/>
            <a:ext cx="2685931" cy="369332"/>
          </a:xfrm>
          <a:prstGeom prst="rect">
            <a:avLst/>
          </a:prstGeom>
          <a:noFill/>
        </p:spPr>
        <p:txBody>
          <a:bodyPr wrap="square" rtlCol="0">
            <a:spAutoFit/>
          </a:bodyPr>
          <a:lstStyle/>
          <a:p>
            <a:r>
              <a:rPr lang="en-US" sz="600" b="1" i="1" dirty="0">
                <a:latin typeface="Aptos Light" panose="020B0004020202020204" pitchFamily="34" charset="0"/>
              </a:rPr>
              <a:t>Calculation Steps</a:t>
            </a:r>
            <a:r>
              <a:rPr lang="en-US" sz="600" i="1" dirty="0">
                <a:latin typeface="Aptos Light" panose="020B0004020202020204" pitchFamily="34" charset="0"/>
              </a:rPr>
              <a:t> | Add the Reliability and Resilience scores first, then multiply by the Feasibility, Acceptability, and Vulnerable Population Impact scores. Finally, divide the total by the Cost Score to get the ERRS value for each option.</a:t>
            </a:r>
          </a:p>
        </p:txBody>
      </p:sp>
    </p:spTree>
    <p:extLst>
      <p:ext uri="{BB962C8B-B14F-4D97-AF65-F5344CB8AC3E}">
        <p14:creationId xmlns:p14="http://schemas.microsoft.com/office/powerpoint/2010/main" val="12419145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107</TotalTime>
  <Words>686</Words>
  <Application>Microsoft Macintosh PowerPoint</Application>
  <PresentationFormat>On-screen Show (4:3)</PresentationFormat>
  <Paragraphs>65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Aptos Light</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Ripberger, Joseph T.</dc:creator>
  <cp:lastModifiedBy>Ripberger, Joseph T.</cp:lastModifiedBy>
  <cp:revision>56</cp:revision>
  <cp:lastPrinted>2025-11-06T16:17:21Z</cp:lastPrinted>
  <dcterms:created xsi:type="dcterms:W3CDTF">2025-11-06T14:45:25Z</dcterms:created>
  <dcterms:modified xsi:type="dcterms:W3CDTF">2025-12-12T15:38:55Z</dcterms:modified>
</cp:coreProperties>
</file>